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IK JADHAV B1-2620" userId="31dafa177a7777d4" providerId="LiveId" clId="{381810DB-81FF-485E-B53B-9CA04A6EA75A}"/>
    <pc:docChg chg="undo custSel modSld">
      <pc:chgData name="KARTIK JADHAV B1-2620" userId="31dafa177a7777d4" providerId="LiveId" clId="{381810DB-81FF-485E-B53B-9CA04A6EA75A}" dt="2026-08-29T15:04:25.130" v="148" actId="255"/>
      <pc:docMkLst>
        <pc:docMk/>
      </pc:docMkLst>
      <pc:sldChg chg="delSp modSp mod">
        <pc:chgData name="KARTIK JADHAV B1-2620" userId="31dafa177a7777d4" providerId="LiveId" clId="{381810DB-81FF-485E-B53B-9CA04A6EA75A}" dt="2026-08-29T14:52:22.709" v="32" actId="255"/>
        <pc:sldMkLst>
          <pc:docMk/>
          <pc:sldMk cId="0" sldId="281"/>
        </pc:sldMkLst>
        <pc:spChg chg="del mod">
          <ac:chgData name="KARTIK JADHAV B1-2620" userId="31dafa177a7777d4" providerId="LiveId" clId="{381810DB-81FF-485E-B53B-9CA04A6EA75A}" dt="2026-08-29T14:47:09.898" v="7" actId="478"/>
          <ac:spMkLst>
            <pc:docMk/>
            <pc:sldMk cId="0" sldId="281"/>
            <ac:spMk id="9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48:43.481" v="14" actId="255"/>
          <ac:spMkLst>
            <pc:docMk/>
            <pc:sldMk cId="0" sldId="281"/>
            <ac:spMk id="15362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2:22.709" v="32" actId="255"/>
          <ac:spMkLst>
            <pc:docMk/>
            <pc:sldMk cId="0" sldId="281"/>
            <ac:spMk id="15363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47:21.765" v="8" actId="1076"/>
          <ac:spMkLst>
            <pc:docMk/>
            <pc:sldMk cId="0" sldId="281"/>
            <ac:spMk id="15364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2:15.330" v="31" actId="255"/>
          <ac:spMkLst>
            <pc:docMk/>
            <pc:sldMk cId="0" sldId="281"/>
            <ac:spMk id="15365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47:21.765" v="8" actId="1076"/>
          <ac:spMkLst>
            <pc:docMk/>
            <pc:sldMk cId="0" sldId="281"/>
            <ac:spMk id="15366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2:05.631" v="30" actId="255"/>
          <ac:spMkLst>
            <pc:docMk/>
            <pc:sldMk cId="0" sldId="281"/>
            <ac:spMk id="15367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47:21.765" v="8" actId="1076"/>
          <ac:spMkLst>
            <pc:docMk/>
            <pc:sldMk cId="0" sldId="281"/>
            <ac:spMk id="15368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49:25.615" v="17" actId="255"/>
          <ac:spMkLst>
            <pc:docMk/>
            <pc:sldMk cId="0" sldId="281"/>
            <ac:spMk id="15369" creationId="{00000000-0000-0000-0000-000000000000}"/>
          </ac:spMkLst>
        </pc:spChg>
      </pc:sldChg>
      <pc:sldChg chg="delSp modSp mod">
        <pc:chgData name="KARTIK JADHAV B1-2620" userId="31dafa177a7777d4" providerId="LiveId" clId="{381810DB-81FF-485E-B53B-9CA04A6EA75A}" dt="2026-08-29T14:53:20.305" v="37" actId="255"/>
        <pc:sldMkLst>
          <pc:docMk/>
          <pc:sldMk cId="0" sldId="290"/>
        </pc:sldMkLst>
        <pc:spChg chg="del mod">
          <ac:chgData name="KARTIK JADHAV B1-2620" userId="31dafa177a7777d4" providerId="LiveId" clId="{381810DB-81FF-485E-B53B-9CA04A6EA75A}" dt="2026-08-29T14:49:54.891" v="21" actId="478"/>
          <ac:spMkLst>
            <pc:docMk/>
            <pc:sldMk cId="0" sldId="290"/>
            <ac:spMk id="7" creationId="{00000000-0000-0000-0000-000000000000}"/>
          </ac:spMkLst>
        </pc:spChg>
        <pc:spChg chg="del mod">
          <ac:chgData name="KARTIK JADHAV B1-2620" userId="31dafa177a7777d4" providerId="LiveId" clId="{381810DB-81FF-485E-B53B-9CA04A6EA75A}" dt="2026-08-29T14:49:50.810" v="19" actId="478"/>
          <ac:spMkLst>
            <pc:docMk/>
            <pc:sldMk cId="0" sldId="290"/>
            <ac:spMk id="10" creationId="{AD4F69D3-EEB0-4C4C-9434-B9960FB5854C}"/>
          </ac:spMkLst>
        </pc:spChg>
        <pc:spChg chg="mod">
          <ac:chgData name="KARTIK JADHAV B1-2620" userId="31dafa177a7777d4" providerId="LiveId" clId="{381810DB-81FF-485E-B53B-9CA04A6EA75A}" dt="2026-08-29T14:51:12.600" v="26" actId="255"/>
          <ac:spMkLst>
            <pc:docMk/>
            <pc:sldMk cId="0" sldId="290"/>
            <ac:spMk id="17410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2:40.547" v="33" actId="255"/>
          <ac:spMkLst>
            <pc:docMk/>
            <pc:sldMk cId="0" sldId="290"/>
            <ac:spMk id="17411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2:48.673" v="34" actId="255"/>
          <ac:spMkLst>
            <pc:docMk/>
            <pc:sldMk cId="0" sldId="290"/>
            <ac:spMk id="17412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2:58.007" v="35" actId="255"/>
          <ac:spMkLst>
            <pc:docMk/>
            <pc:sldMk cId="0" sldId="290"/>
            <ac:spMk id="17413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3:08.865" v="36" actId="255"/>
          <ac:spMkLst>
            <pc:docMk/>
            <pc:sldMk cId="0" sldId="290"/>
            <ac:spMk id="17414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0:09.330" v="22" actId="1076"/>
          <ac:spMkLst>
            <pc:docMk/>
            <pc:sldMk cId="0" sldId="290"/>
            <ac:spMk id="17415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3:20.305" v="37" actId="255"/>
          <ac:spMkLst>
            <pc:docMk/>
            <pc:sldMk cId="0" sldId="290"/>
            <ac:spMk id="17416" creationId="{00000000-0000-0000-0000-000000000000}"/>
          </ac:spMkLst>
        </pc:spChg>
      </pc:sldChg>
      <pc:sldChg chg="modSp mod">
        <pc:chgData name="KARTIK JADHAV B1-2620" userId="31dafa177a7777d4" providerId="LiveId" clId="{381810DB-81FF-485E-B53B-9CA04A6EA75A}" dt="2026-08-29T14:46:07.462" v="3" actId="255"/>
        <pc:sldMkLst>
          <pc:docMk/>
          <pc:sldMk cId="0" sldId="291"/>
        </pc:sldMkLst>
        <pc:spChg chg="mod">
          <ac:chgData name="KARTIK JADHAV B1-2620" userId="31dafa177a7777d4" providerId="LiveId" clId="{381810DB-81FF-485E-B53B-9CA04A6EA75A}" dt="2026-08-29T14:46:07.462" v="3" actId="255"/>
          <ac:spMkLst>
            <pc:docMk/>
            <pc:sldMk cId="0" sldId="291"/>
            <ac:spMk id="4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45:52.294" v="2" actId="255"/>
          <ac:spMkLst>
            <pc:docMk/>
            <pc:sldMk cId="0" sldId="291"/>
            <ac:spMk id="10" creationId="{00000000-0000-0000-0000-000000000000}"/>
          </ac:spMkLst>
        </pc:spChg>
      </pc:sldChg>
      <pc:sldChg chg="addSp delSp modSp mod">
        <pc:chgData name="KARTIK JADHAV B1-2620" userId="31dafa177a7777d4" providerId="LiveId" clId="{381810DB-81FF-485E-B53B-9CA04A6EA75A}" dt="2026-08-29T14:55:56.454" v="53" actId="255"/>
        <pc:sldMkLst>
          <pc:docMk/>
          <pc:sldMk cId="3753387913" sldId="293"/>
        </pc:sldMkLst>
        <pc:spChg chg="add del">
          <ac:chgData name="KARTIK JADHAV B1-2620" userId="31dafa177a7777d4" providerId="LiveId" clId="{381810DB-81FF-485E-B53B-9CA04A6EA75A}" dt="2026-08-29T14:53:51.109" v="44" actId="478"/>
          <ac:spMkLst>
            <pc:docMk/>
            <pc:sldMk cId="3753387913" sldId="293"/>
            <ac:spMk id="7" creationId="{00000000-0000-0000-0000-000000000000}"/>
          </ac:spMkLst>
        </pc:spChg>
        <pc:spChg chg="del mod">
          <ac:chgData name="KARTIK JADHAV B1-2620" userId="31dafa177a7777d4" providerId="LiveId" clId="{381810DB-81FF-485E-B53B-9CA04A6EA75A}" dt="2026-08-29T14:53:41.434" v="40" actId="478"/>
          <ac:spMkLst>
            <pc:docMk/>
            <pc:sldMk cId="3753387913" sldId="293"/>
            <ac:spMk id="10" creationId="{AD4F69D3-EEB0-4C4C-9434-B9960FB5854C}"/>
          </ac:spMkLst>
        </pc:spChg>
        <pc:spChg chg="mod">
          <ac:chgData name="KARTIK JADHAV B1-2620" userId="31dafa177a7777d4" providerId="LiveId" clId="{381810DB-81FF-485E-B53B-9CA04A6EA75A}" dt="2026-08-29T14:55:10.379" v="49" actId="255"/>
          <ac:spMkLst>
            <pc:docMk/>
            <pc:sldMk cId="3753387913" sldId="293"/>
            <ac:spMk id="17410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5:23.870" v="50" actId="255"/>
          <ac:spMkLst>
            <pc:docMk/>
            <pc:sldMk cId="3753387913" sldId="293"/>
            <ac:spMk id="17411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5:34.405" v="51" actId="255"/>
          <ac:spMkLst>
            <pc:docMk/>
            <pc:sldMk cId="3753387913" sldId="293"/>
            <ac:spMk id="17413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5:46.533" v="52" actId="255"/>
          <ac:spMkLst>
            <pc:docMk/>
            <pc:sldMk cId="3753387913" sldId="293"/>
            <ac:spMk id="17415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5:56.454" v="53" actId="255"/>
          <ac:spMkLst>
            <pc:docMk/>
            <pc:sldMk cId="3753387913" sldId="293"/>
            <ac:spMk id="17417" creationId="{00000000-0000-0000-0000-000000000000}"/>
          </ac:spMkLst>
        </pc:spChg>
      </pc:sldChg>
      <pc:sldChg chg="addSp delSp modSp mod">
        <pc:chgData name="KARTIK JADHAV B1-2620" userId="31dafa177a7777d4" providerId="LiveId" clId="{381810DB-81FF-485E-B53B-9CA04A6EA75A}" dt="2026-08-29T14:59:39.985" v="114" actId="255"/>
        <pc:sldMkLst>
          <pc:docMk/>
          <pc:sldMk cId="2997144140" sldId="294"/>
        </pc:sldMkLst>
        <pc:spChg chg="add del mod">
          <ac:chgData name="KARTIK JADHAV B1-2620" userId="31dafa177a7777d4" providerId="LiveId" clId="{381810DB-81FF-485E-B53B-9CA04A6EA75A}" dt="2026-08-29T14:58:38.512" v="106" actId="6549"/>
          <ac:spMkLst>
            <pc:docMk/>
            <pc:sldMk cId="2997144140" sldId="294"/>
            <ac:spMk id="7" creationId="{00000000-0000-0000-0000-000000000000}"/>
          </ac:spMkLst>
        </pc:spChg>
        <pc:spChg chg="add del mod">
          <ac:chgData name="KARTIK JADHAV B1-2620" userId="31dafa177a7777d4" providerId="LiveId" clId="{381810DB-81FF-485E-B53B-9CA04A6EA75A}" dt="2026-08-29T14:58:51.908" v="109" actId="478"/>
          <ac:spMkLst>
            <pc:docMk/>
            <pc:sldMk cId="2997144140" sldId="294"/>
            <ac:spMk id="10" creationId="{AD4F69D3-EEB0-4C4C-9434-B9960FB5854C}"/>
          </ac:spMkLst>
        </pc:spChg>
        <pc:spChg chg="mod">
          <ac:chgData name="KARTIK JADHAV B1-2620" userId="31dafa177a7777d4" providerId="LiveId" clId="{381810DB-81FF-485E-B53B-9CA04A6EA75A}" dt="2026-08-29T14:59:01.634" v="110" actId="255"/>
          <ac:spMkLst>
            <pc:docMk/>
            <pc:sldMk cId="2997144140" sldId="294"/>
            <ac:spMk id="17410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9:12.819" v="111" actId="255"/>
          <ac:spMkLst>
            <pc:docMk/>
            <pc:sldMk cId="2997144140" sldId="294"/>
            <ac:spMk id="17411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9:23.003" v="112" actId="255"/>
          <ac:spMkLst>
            <pc:docMk/>
            <pc:sldMk cId="2997144140" sldId="294"/>
            <ac:spMk id="17412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9:31.694" v="113" actId="255"/>
          <ac:spMkLst>
            <pc:docMk/>
            <pc:sldMk cId="2997144140" sldId="294"/>
            <ac:spMk id="17413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4:59:39.985" v="114" actId="255"/>
          <ac:spMkLst>
            <pc:docMk/>
            <pc:sldMk cId="2997144140" sldId="294"/>
            <ac:spMk id="17414" creationId="{00000000-0000-0000-0000-000000000000}"/>
          </ac:spMkLst>
        </pc:spChg>
      </pc:sldChg>
      <pc:sldChg chg="delSp modSp mod">
        <pc:chgData name="KARTIK JADHAV B1-2620" userId="31dafa177a7777d4" providerId="LiveId" clId="{381810DB-81FF-485E-B53B-9CA04A6EA75A}" dt="2026-08-29T15:04:25.130" v="148" actId="255"/>
        <pc:sldMkLst>
          <pc:docMk/>
          <pc:sldMk cId="3916788613" sldId="296"/>
        </pc:sldMkLst>
        <pc:spChg chg="del">
          <ac:chgData name="KARTIK JADHAV B1-2620" userId="31dafa177a7777d4" providerId="LiveId" clId="{381810DB-81FF-485E-B53B-9CA04A6EA75A}" dt="2026-08-29T14:59:55.737" v="115" actId="478"/>
          <ac:spMkLst>
            <pc:docMk/>
            <pc:sldMk cId="3916788613" sldId="296"/>
            <ac:spMk id="10" creationId="{AD4F69D3-EEB0-4C4C-9434-B9960FB5854C}"/>
          </ac:spMkLst>
        </pc:spChg>
        <pc:spChg chg="mod">
          <ac:chgData name="KARTIK JADHAV B1-2620" userId="31dafa177a7777d4" providerId="LiveId" clId="{381810DB-81FF-485E-B53B-9CA04A6EA75A}" dt="2026-08-29T15:03:38.092" v="143" actId="6549"/>
          <ac:spMkLst>
            <pc:docMk/>
            <pc:sldMk cId="3916788613" sldId="296"/>
            <ac:spMk id="17410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5:03:49.197" v="144" actId="255"/>
          <ac:spMkLst>
            <pc:docMk/>
            <pc:sldMk cId="3916788613" sldId="296"/>
            <ac:spMk id="17411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5:03:58.532" v="145" actId="255"/>
          <ac:spMkLst>
            <pc:docMk/>
            <pc:sldMk cId="3916788613" sldId="296"/>
            <ac:spMk id="17412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5:04:08.520" v="146" actId="255"/>
          <ac:spMkLst>
            <pc:docMk/>
            <pc:sldMk cId="3916788613" sldId="296"/>
            <ac:spMk id="17413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5:04:18.187" v="147" actId="255"/>
          <ac:spMkLst>
            <pc:docMk/>
            <pc:sldMk cId="3916788613" sldId="296"/>
            <ac:spMk id="17414" creationId="{00000000-0000-0000-0000-000000000000}"/>
          </ac:spMkLst>
        </pc:spChg>
        <pc:spChg chg="mod">
          <ac:chgData name="KARTIK JADHAV B1-2620" userId="31dafa177a7777d4" providerId="LiveId" clId="{381810DB-81FF-485E-B53B-9CA04A6EA75A}" dt="2026-08-29T15:04:25.130" v="148" actId="255"/>
          <ac:spMkLst>
            <pc:docMk/>
            <pc:sldMk cId="3916788613" sldId="296"/>
            <ac:spMk id="174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buNone/>
            </a:pPr>
            <a:r>
              <a:rPr sz="3200" b="1" dirty="0">
                <a:solidFill>
                  <a:srgbClr val="0A2350"/>
                </a:solidFill>
              </a:rPr>
              <a:t>VERDICT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sz="1300" b="1" dirty="0">
                <a:solidFill>
                  <a:srgbClr val="1E82BE"/>
                </a:solidFill>
              </a:rPr>
              <a:t>In</a:t>
            </a:r>
            <a:r>
              <a:rPr sz="1400" b="1" dirty="0">
                <a:solidFill>
                  <a:srgbClr val="1E82BE"/>
                </a:solidFill>
              </a:rPr>
              <a:t>dia's Politician Accountability &amp; Civic Intelligence Platform</a:t>
            </a:r>
          </a:p>
          <a:p>
            <a:pPr>
              <a:buNone/>
            </a:pPr>
            <a:r>
              <a:rPr sz="1400" b="0" dirty="0">
                <a:solidFill>
                  <a:srgbClr val="2D2D2D"/>
                </a:solidFill>
              </a:rPr>
              <a:t>Rate Your Neta. Know Your Money. Empower Democracy.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3141" y="2153490"/>
            <a:ext cx="5924550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000" b="1" dirty="0">
                <a:solidFill>
                  <a:srgbClr val="2D2D2D"/>
                </a:solidFill>
              </a:rPr>
              <a:t>Problem Statement ID: </a:t>
            </a:r>
            <a:r>
              <a:rPr sz="2000" b="1" dirty="0">
                <a:solidFill>
                  <a:srgbClr val="003C82"/>
                </a:solidFill>
              </a:rPr>
              <a:t>SIH26102</a:t>
            </a:r>
            <a:endParaRPr lang="en-US" sz="2000" dirty="0"/>
          </a:p>
          <a:p>
            <a:pPr>
              <a:spcAft>
                <a:spcPts val="600"/>
              </a:spcAft>
              <a:buNone/>
            </a:pPr>
            <a:r>
              <a:rPr sz="2000" b="1" dirty="0">
                <a:solidFill>
                  <a:srgbClr val="2D2D2D"/>
                </a:solidFill>
              </a:rPr>
              <a:t>Problem Statement Title: </a:t>
            </a:r>
            <a:r>
              <a:rPr sz="2000" b="1" dirty="0">
                <a:solidFill>
                  <a:srgbClr val="003C82"/>
                </a:solidFill>
              </a:rPr>
              <a:t>AI-Powered System to Detect Anomalies, Fraud &amp; Inefficiencies in MPLAD Scheme</a:t>
            </a:r>
          </a:p>
          <a:p>
            <a:pPr>
              <a:spcAft>
                <a:spcPts val="600"/>
              </a:spcAft>
              <a:buNone/>
            </a:pPr>
            <a:r>
              <a:rPr sz="2000" b="1" dirty="0">
                <a:solidFill>
                  <a:srgbClr val="2D2D2D"/>
                </a:solidFill>
              </a:rPr>
              <a:t>Theme: </a:t>
            </a:r>
            <a:r>
              <a:rPr sz="2000" b="0" dirty="0">
                <a:solidFill>
                  <a:srgbClr val="2D2D2D"/>
                </a:solidFill>
              </a:rPr>
              <a:t>Miscellaneous / Open Innovation</a:t>
            </a:r>
          </a:p>
          <a:p>
            <a:pPr>
              <a:spcAft>
                <a:spcPts val="600"/>
              </a:spcAft>
              <a:buNone/>
            </a:pPr>
            <a:r>
              <a:rPr sz="2000" b="1" dirty="0">
                <a:solidFill>
                  <a:srgbClr val="2D2D2D"/>
                </a:solidFill>
              </a:rPr>
              <a:t>PS Category: </a:t>
            </a:r>
            <a:r>
              <a:rPr sz="2000" b="0" dirty="0">
                <a:solidFill>
                  <a:srgbClr val="2D2D2D"/>
                </a:solidFill>
              </a:rPr>
              <a:t>Software</a:t>
            </a:r>
          </a:p>
          <a:p>
            <a:pPr>
              <a:spcAft>
                <a:spcPts val="600"/>
              </a:spcAft>
              <a:buNone/>
            </a:pPr>
            <a:r>
              <a:rPr sz="2000" b="1" dirty="0">
                <a:solidFill>
                  <a:srgbClr val="2D2D2D"/>
                </a:solidFill>
              </a:rPr>
              <a:t>Team ID: </a:t>
            </a:r>
            <a:r>
              <a:rPr sz="2000" b="1" dirty="0">
                <a:solidFill>
                  <a:srgbClr val="003C82"/>
                </a:solidFill>
              </a:rPr>
              <a:t>SIH2026-TEAM-VERDICT</a:t>
            </a:r>
          </a:p>
          <a:p>
            <a:pPr>
              <a:spcAft>
                <a:spcPts val="600"/>
              </a:spcAft>
              <a:buNone/>
            </a:pPr>
            <a:r>
              <a:rPr sz="2000" b="1" dirty="0">
                <a:solidFill>
                  <a:srgbClr val="2D2D2D"/>
                </a:solidFill>
              </a:rPr>
              <a:t>Team Name: </a:t>
            </a:r>
            <a:r>
              <a:rPr sz="2000" b="1" dirty="0">
                <a:solidFill>
                  <a:srgbClr val="003C82"/>
                </a:solidFill>
              </a:rPr>
              <a:t>VERDICT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886968" y="1230096"/>
            <a:ext cx="10972800" cy="3095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36576" rIns="45720" bIns="36576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dirty="0">
                <a:solidFill>
                  <a:srgbClr val="C82D2D"/>
                </a:solidFill>
              </a:rPr>
              <a:t>THE CRITICAL CITIZEN PROBLEM IN INDIA TODAY: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</a:t>
            </a:r>
            <a:r>
              <a:rPr sz="1600" b="0" dirty="0">
                <a:solidFill>
                  <a:srgbClr val="2D2D2D"/>
                </a:solidFill>
              </a:rPr>
              <a:t>• Candidate criminal cases &amp; wealth records are locked inside 400-page scanned affidavits and complex legal terminology.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600" b="0" dirty="0">
                <a:solidFill>
                  <a:srgbClr val="2D2D2D"/>
                </a:solidFill>
              </a:rPr>
              <a:t>  • Over ₹4.83 Lakh Crore in government fund misuse is buried inside technical CAG audit reports that voters never see.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600" b="0" dirty="0">
                <a:solidFill>
                  <a:srgbClr val="2D2D2D"/>
                </a:solidFill>
              </a:rPr>
              <a:t>  • Citizens have no single place before entering the voting booth to check: 'Is my MP performing well?'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endParaRPr lang="en-US" sz="1700" b="1" dirty="0">
              <a:solidFill>
                <a:srgbClr val="008C4B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sz="2000" b="1" dirty="0">
                <a:solidFill>
                  <a:srgbClr val="008C4B"/>
                </a:solidFill>
              </a:rPr>
              <a:t>HOW VERDICT SOLVES THIS (ALL-IN-ONE CITIZEN INTELLIGENCE PORTAL):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0.0 to 10.0 VERDICT Score: A credit-score-like rating for all 543 Lok Sabha MPs based on verified public records.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Plain-Language Criminal Translator: Automatic translation of IPC/BNS sections into 4 severity tiers and layman English.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Ground Truth Money Trail: Interactive tracking of CAG audit findings, fund diversions &amp; international cost benchmarks.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Neta Face-Off: Side-by-side comparative matrix evaluating any two MPs on attendance, debates, wealth, and cases.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03C82"/>
          </a:solidFill>
          <a:ln w="19050">
            <a:solidFill>
              <a:srgbClr val="1E82BE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</a:rPr>
              <a:t>VERDICT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612648" y="4782312"/>
            <a:ext cx="2240280" cy="15087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C8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C82D2D"/>
                </a:solidFill>
              </a:rPr>
              <a:t>1. Citizen Query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Voter seeks real record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of candidate before elections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without political spin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2962656" y="5376672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E82BE"/>
                </a:solidFill>
              </a:rPr>
              <a:t>➔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493008" y="4782312"/>
            <a:ext cx="2240280" cy="15087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1E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003C82"/>
                </a:solidFill>
              </a:rPr>
              <a:t>2. VERDICT Engine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Ingests ECI affidavits,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 err="1">
                <a:solidFill>
                  <a:srgbClr val="2D2D2D"/>
                </a:solidFill>
              </a:rPr>
              <a:t>eCourts</a:t>
            </a:r>
            <a:r>
              <a:rPr sz="1400" b="0" dirty="0">
                <a:solidFill>
                  <a:srgbClr val="2D2D2D"/>
                </a:solidFill>
              </a:rPr>
              <a:t> live dockets,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Sansad &amp; CAG audit files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843016" y="5376672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E82BE"/>
                </a:solidFill>
              </a:rPr>
              <a:t>➔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373368" y="4782312"/>
            <a:ext cx="2240280" cy="15087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7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D75F00"/>
                </a:solidFill>
              </a:rPr>
              <a:t>3. 0–10 Trust Score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Instant plain-language score: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Attendance, criminal charges,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and wealth growth alert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8723376" y="5376672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E82BE"/>
                </a:solidFill>
              </a:rPr>
              <a:t>➔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9253728" y="4782312"/>
            <a:ext cx="2240280" cy="15087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08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008C4B"/>
                </a:solidFill>
              </a:rPr>
              <a:t>4. Informed Ballot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Democracy empowered: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Citizen votes based on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hard verified facts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207008"/>
            <a:ext cx="10972800" cy="3077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36576" rIns="45720" bIns="36576">
            <a:spAutoFit/>
          </a:bodyPr>
          <a:lstStyle/>
          <a:p>
            <a:pPr marL="342900" indent="-342900" algn="just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dirty="0">
                <a:solidFill>
                  <a:srgbClr val="003C82"/>
                </a:solidFill>
              </a:rPr>
              <a:t>TECH STACK &amp; ARCHITECTURE (Simple, Modern &amp; Production-Ready):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Web &amp; Mobile UI: Next.js 15 (App Router) + React 19 + Tailwind CSS — responsive, fast PWA with 44px touch targets.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Secure Database: PostgreSQL via </a:t>
            </a:r>
            <a:r>
              <a:rPr sz="1700" b="0" dirty="0" err="1">
                <a:solidFill>
                  <a:srgbClr val="2D2D2D"/>
                </a:solidFill>
              </a:rPr>
              <a:t>Supabase</a:t>
            </a:r>
            <a:r>
              <a:rPr sz="1700" b="0" dirty="0">
                <a:solidFill>
                  <a:srgbClr val="2D2D2D"/>
                </a:solidFill>
              </a:rPr>
              <a:t> with Row-Level Security (RLS), atomic RPCs, and zero client-side secrets.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Automated Ingestion: Python pipelines (</a:t>
            </a:r>
            <a:r>
              <a:rPr sz="1700" b="0" dirty="0" err="1">
                <a:solidFill>
                  <a:srgbClr val="2D2D2D"/>
                </a:solidFill>
              </a:rPr>
              <a:t>BeautifulSoup</a:t>
            </a:r>
            <a:r>
              <a:rPr sz="1700" b="0" dirty="0">
                <a:solidFill>
                  <a:srgbClr val="2D2D2D"/>
                </a:solidFill>
              </a:rPr>
              <a:t>, pandas, requests) scraping ECI, </a:t>
            </a:r>
            <a:r>
              <a:rPr sz="1700" b="0" dirty="0" err="1">
                <a:solidFill>
                  <a:srgbClr val="2D2D2D"/>
                </a:solidFill>
              </a:rPr>
              <a:t>eCourts</a:t>
            </a:r>
            <a:r>
              <a:rPr sz="1700" b="0" dirty="0">
                <a:solidFill>
                  <a:srgbClr val="2D2D2D"/>
                </a:solidFill>
              </a:rPr>
              <a:t> &amp; Sansad.in.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Data Visualizations: Recharts for interactive asset growth trends, budget flows, and CAG category donut charts.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Security &amp; SRE: SSRF proxy validation, sliding-window rate limiting, Sentry telemetry, and 0-emoji </a:t>
            </a:r>
            <a:r>
              <a:rPr sz="1700" b="0" dirty="0" err="1">
                <a:solidFill>
                  <a:srgbClr val="2D2D2D"/>
                </a:solidFill>
              </a:rPr>
              <a:t>Lucide</a:t>
            </a:r>
            <a:r>
              <a:rPr sz="1700" b="0" dirty="0">
                <a:solidFill>
                  <a:srgbClr val="2D2D2D"/>
                </a:solidFill>
              </a:rPr>
              <a:t> icons.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sz="2000" b="1" dirty="0">
                <a:solidFill>
                  <a:srgbClr val="003C82"/>
                </a:solidFill>
              </a:rPr>
              <a:t>MATHEMATICAL SCORING FORMULATION (0.0 to 10.0 Scale):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Base Score: 5.0 / 10.0 (all elected MPs start with an equal neutral baseline).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Positive Vectors: +2.0 (Parliament Attendance ≥90%) | +1.0 (Clean Legal Record) | +0.5 (Verified Degree &amp; Loyalty).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Penal Deductions: Up to -4.0 for Severe Criminal Prosecutions (Murder, Corruption, Rape) | -2.0 for &gt;500% Asset Outliers.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03C82"/>
          </a:solidFill>
          <a:ln w="19050">
            <a:solidFill>
              <a:srgbClr val="1E82BE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</a:rPr>
              <a:t>VERDICT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199" y="4983480"/>
            <a:ext cx="1783080" cy="15087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0050A0"/>
                </a:solidFill>
              </a:rPr>
              <a:t>ECI Form 26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Assets, education,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affidavits &amp; filings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350007" y="4983480"/>
            <a:ext cx="1783080" cy="15087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0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 err="1">
                <a:solidFill>
                  <a:srgbClr val="00785A"/>
                </a:solidFill>
              </a:rPr>
              <a:t>eCourts</a:t>
            </a:r>
            <a:r>
              <a:rPr sz="1400" b="1" dirty="0">
                <a:solidFill>
                  <a:srgbClr val="00785A"/>
                </a:solidFill>
              </a:rPr>
              <a:t> NJDG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Live court case status,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FIRs &amp; IPC sections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42815" y="4983480"/>
            <a:ext cx="1783080" cy="15087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B45A00"/>
                </a:solidFill>
              </a:rPr>
              <a:t>Sansad / PRS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Parliament attendance,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debates &amp; questions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35622" y="4983480"/>
            <a:ext cx="1783080" cy="15087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B42828"/>
                </a:solidFill>
              </a:rPr>
              <a:t>CAG Audits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Official performance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audit reports &amp; data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074151" y="5577840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E82BE"/>
                </a:solidFill>
              </a:rPr>
              <a:t>➔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485631" y="4983480"/>
            <a:ext cx="2926080" cy="15087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08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008C4B"/>
                </a:solidFill>
              </a:rPr>
              <a:t>VERDICT Platform Engine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Normalization &amp; Score Calculator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IPC Plain-Language Translator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Static HTML Pre-render (593 pages)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Citizen Dashboard &amp; API Gateway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21207" y="1144500"/>
            <a:ext cx="10972800" cy="3051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36576" rIns="45720" bIns="36576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sz="2000" b="1" dirty="0">
                <a:solidFill>
                  <a:srgbClr val="003C82"/>
                </a:solidFill>
              </a:rPr>
              <a:t>IS VERDICT FEASIBLE? YES — PRODUCTION SYSTEM IS ALREADY LIVE &amp; TESTED: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00" b="0" dirty="0">
                <a:solidFill>
                  <a:srgbClr val="2D2D2D"/>
                </a:solidFill>
              </a:rPr>
              <a:t>  </a:t>
            </a:r>
            <a:r>
              <a:rPr sz="1700" b="0" dirty="0">
                <a:solidFill>
                  <a:srgbClr val="2D2D2D"/>
                </a:solidFill>
              </a:rPr>
              <a:t>• Live Production Build: 593 static routes pre-rendered on </a:t>
            </a:r>
            <a:r>
              <a:rPr sz="1700" b="0" dirty="0" err="1">
                <a:solidFill>
                  <a:srgbClr val="2D2D2D"/>
                </a:solidFill>
              </a:rPr>
              <a:t>Vercel</a:t>
            </a:r>
            <a:r>
              <a:rPr sz="1700" b="0" dirty="0">
                <a:solidFill>
                  <a:srgbClr val="2D2D2D"/>
                </a:solidFill>
              </a:rPr>
              <a:t> at https://verdict.vercel.app with 0 build errors.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563 Real Politicians Ingested: Complete profiles for 543 Lok Sabha MPs with verified photos, portfolios &amp; asset history.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Rigorous SRE Testing: 49/49 automated unit &amp; integration tests passing; P95 response latency &lt;45ms under 100 VUs.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Low Cost &amp; Scalable: Entire serverless architecture operates under ₹1,500/month on cloud edge tiers.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sz="2000" b="1" dirty="0">
                <a:solidFill>
                  <a:srgbClr val="003C82"/>
                </a:solidFill>
              </a:rPr>
              <a:t>RISK MITIGATION STRATEGIES (Overcoming Core Real-World Challenges):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Data Scarcity Risk: Solved via automated multi-source scrapers with robust fallback mock caches for offline resilience.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Legal / Defamation Risk: Solved by strictly presenting verbatim official records (CAG reports, Supreme Court orders, ECI Form 26).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Bot Rating Spam Risk: Solved via server-side session checks, IP-based sliding window rate limits, and Zod input validation.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03C82"/>
          </a:solidFill>
          <a:ln w="19050">
            <a:solidFill>
              <a:srgbClr val="1E82BE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</a:rPr>
              <a:t>VERDICT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4343400"/>
            <a:ext cx="2578608" cy="15087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08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008C4B"/>
                </a:solidFill>
              </a:rPr>
              <a:t>PHASE 1 (LIVE TODAY)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v1.0 Operational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543 Lok Sabha MPs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10 CAG Scam Dossiers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593 Static Pages Built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227832" y="4937760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E82BE"/>
                </a:solidFill>
              </a:rPr>
              <a:t>➔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392424" y="4343400"/>
            <a:ext cx="2578608" cy="15087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1E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1E82BE"/>
                </a:solidFill>
              </a:rPr>
              <a:t>PHASE 2 (6 MONTHS)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v2.0 State Expansion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4,123 State MLAs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28 State Vidhan Sabhas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State Budget Audit Tracker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007607" y="4937760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E82BE"/>
                </a:solidFill>
              </a:rPr>
              <a:t>➔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72200" y="4343400"/>
            <a:ext cx="2578608" cy="15087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7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D75F00"/>
                </a:solidFill>
              </a:rPr>
              <a:t>PHASE 3 (12 MONTHS)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v3.0 Citizen Identity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12 Indian Languages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</a:t>
            </a:r>
            <a:r>
              <a:rPr sz="1400" b="0" dirty="0" err="1">
                <a:solidFill>
                  <a:srgbClr val="2D2D2D"/>
                </a:solidFill>
              </a:rPr>
              <a:t>DigiLocker</a:t>
            </a:r>
            <a:r>
              <a:rPr sz="1400" b="0" dirty="0">
                <a:solidFill>
                  <a:srgbClr val="2D2D2D"/>
                </a:solidFill>
              </a:rPr>
              <a:t> 1-Citizen-1-Vote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Constituency WhatsApp Alerts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787384" y="4937760"/>
            <a:ext cx="365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E82BE"/>
                </a:solidFill>
              </a:rPr>
              <a:t>➔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951976" y="4343400"/>
            <a:ext cx="2578608" cy="150876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822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822882"/>
                </a:solidFill>
              </a:rPr>
              <a:t>PHASE 4 (24 MONTHS)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v4.0 Ground Truth AI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Satellite Project Audits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Live Sansad TV Speech NLP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• Blockchain Proof Ledger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207008"/>
            <a:ext cx="10972800" cy="357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36576" rIns="45720" bIns="36576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sz="2000" b="1" dirty="0">
                <a:solidFill>
                  <a:srgbClr val="003C82"/>
                </a:solidFill>
              </a:rPr>
              <a:t>MEASURABLE IMPACT &amp; BENEFICIARIES ACROSS INDIAN SOCIETY: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00" b="0" dirty="0">
                <a:solidFill>
                  <a:srgbClr val="2D2D2D"/>
                </a:solidFill>
              </a:rPr>
              <a:t>  </a:t>
            </a:r>
            <a:r>
              <a:rPr sz="1700" b="0" dirty="0">
                <a:solidFill>
                  <a:srgbClr val="2D2D2D"/>
                </a:solidFill>
              </a:rPr>
              <a:t>• 96 Crore Registered Voters: Enables instant 10-second candidate audits before voting — ending democratic information asymmetry.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Taxpayers &amp; Citizens: Demystifies the ₹47.94 Lakh Crore Union Budget, tracking exactly where funds flowed or stalled.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Grassroots RTI Activists: 1-click Section 6(1) RTI Form 'A' application generator targeting local Public Information Officers.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Investigative Journalists: Centralized, source-linked repository of MP asset histories, party transitions, and court dockets.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sz="2000" b="1" dirty="0">
                <a:solidFill>
                  <a:srgbClr val="003C82"/>
                </a:solidFill>
              </a:rPr>
              <a:t>SYSTEMIC DEMOCRATIC &amp; NATIONAL BENEFITS: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Disincentivizes Crime in Politics: Publicly exposes severe criminal charges and tracks disproportional wealth growth.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Supports 'Digital India' &amp; Open Governance: Converts fragmented, hard-to-read government PDFs into structured citizen insights.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• Promotes Issue-Based Politics: Moves electoral discourse away from divisive rhetoric toward verifiable performance metrics.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03C82"/>
          </a:solidFill>
          <a:ln w="19050">
            <a:solidFill>
              <a:srgbClr val="1E82BE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</a:rPr>
              <a:t>VERDICT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5012266"/>
            <a:ext cx="2578608" cy="15087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0050A0"/>
                </a:solidFill>
              </a:rPr>
              <a:t>96 CRORE VOTERS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Empowered before elections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with instant 0–10 scorecards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and plain-language records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392424" y="5012266"/>
            <a:ext cx="2578608" cy="15087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00823C"/>
                </a:solidFill>
              </a:rPr>
              <a:t>543 MPs PROFILED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100% 18th Lok Sabha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with attendance, wealth history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and court case dockets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72200" y="5012266"/>
            <a:ext cx="2578608" cy="15087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C8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C82D2D"/>
                </a:solidFill>
              </a:rPr>
              <a:t>₹4.83 LAKH CRORE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Public capital audited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across 10 verified CAG cases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with loss translation math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951976" y="5012266"/>
            <a:ext cx="2578608" cy="15087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B45A00"/>
                </a:solidFill>
              </a:rPr>
              <a:t>100+ GLOBAL INDICES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India's rank vs world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across 14 domains with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20-yr Rupee currency ledger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57136" y="1154303"/>
            <a:ext cx="10972800" cy="3492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36576" rIns="45720" bIns="36576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sz="2000" b="1" dirty="0">
                <a:solidFill>
                  <a:srgbClr val="003C82"/>
                </a:solidFill>
              </a:rPr>
              <a:t>OFFICIAL GOVERNMENT DATA SOURCES &amp; STATUTORY REFERENCES: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00" b="0" dirty="0">
                <a:solidFill>
                  <a:srgbClr val="2D2D2D"/>
                </a:solidFill>
              </a:rPr>
              <a:t> </a:t>
            </a:r>
            <a:r>
              <a:rPr sz="1700" b="0" dirty="0">
                <a:solidFill>
                  <a:srgbClr val="2D2D2D"/>
                </a:solidFill>
              </a:rPr>
              <a:t> </a:t>
            </a:r>
            <a:r>
              <a:rPr sz="1600" b="0" dirty="0">
                <a:solidFill>
                  <a:srgbClr val="2D2D2D"/>
                </a:solidFill>
              </a:rPr>
              <a:t>• Election Commission of India (ECI): Form 26 candidate affidavits, assets &amp; education declarations (affidavit.eci.gov.in)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600" b="0" dirty="0">
                <a:solidFill>
                  <a:srgbClr val="2D2D2D"/>
                </a:solidFill>
              </a:rPr>
              <a:t>  • National Judicial Data Grid (NJDG) / </a:t>
            </a:r>
            <a:r>
              <a:rPr sz="1600" b="0" dirty="0" err="1">
                <a:solidFill>
                  <a:srgbClr val="2D2D2D"/>
                </a:solidFill>
              </a:rPr>
              <a:t>eCourts</a:t>
            </a:r>
            <a:r>
              <a:rPr sz="1600" b="0" dirty="0">
                <a:solidFill>
                  <a:srgbClr val="2D2D2D"/>
                </a:solidFill>
              </a:rPr>
              <a:t>: Live district court case status, FIRs &amp; IPC sections (ecourts.gov.in)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600" b="0" dirty="0">
                <a:solidFill>
                  <a:srgbClr val="2D2D2D"/>
                </a:solidFill>
              </a:rPr>
              <a:t>  • Sansad.in &amp; PRS Legislative Research: Official Lok Sabha MP attendance transcripts, debate counts &amp; questions asked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600" b="0" dirty="0">
                <a:solidFill>
                  <a:srgbClr val="2D2D2D"/>
                </a:solidFill>
              </a:rPr>
              <a:t>  • CAG Audit Reports (cag.gov.in): Report 16/2023 (Dwarka Expressway), Report 7/2023 (PM-JAY), Report 34/2017 (Clean Energy), Minor Head 800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600" b="0" dirty="0">
                <a:solidFill>
                  <a:srgbClr val="2D2D2D"/>
                </a:solidFill>
              </a:rPr>
              <a:t>  • Supreme Court of India: Landmark orders in WP(C) 318/2006 (BOCW </a:t>
            </a:r>
            <a:r>
              <a:rPr sz="1600" b="0" dirty="0" err="1">
                <a:solidFill>
                  <a:srgbClr val="2D2D2D"/>
                </a:solidFill>
              </a:rPr>
              <a:t>Cess</a:t>
            </a:r>
            <a:r>
              <a:rPr sz="1600" b="0" dirty="0">
                <a:solidFill>
                  <a:srgbClr val="2D2D2D"/>
                </a:solidFill>
              </a:rPr>
              <a:t> Fund) &amp; WP(C) 202/1995 (CAMPA Afforestation)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600" b="0" dirty="0">
                <a:solidFill>
                  <a:srgbClr val="2D2D2D"/>
                </a:solidFill>
              </a:rPr>
              <a:t>  • Global Governance Indices: World Bank, IMF, UNDP Human Development Index, RSF Press Freedom, WEF Gender Gap, WHO Health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sz="2000" b="1" dirty="0">
                <a:solidFill>
                  <a:srgbClr val="003C82"/>
                </a:solidFill>
              </a:rPr>
              <a:t>LIVE PLATFORM REPOSITORIES &amp; DOCUMENTATION:</a:t>
            </a:r>
            <a:endParaRPr lang="fr-FR" sz="2000" b="1" dirty="0">
              <a:solidFill>
                <a:srgbClr val="003C82"/>
              </a:solidFill>
            </a:endParaRPr>
          </a:p>
          <a:p>
            <a:pPr>
              <a:spcBef>
                <a:spcPts val="0"/>
              </a:spcBef>
              <a:spcAft>
                <a:spcPts val="150"/>
              </a:spcAft>
            </a:pPr>
            <a:r>
              <a:rPr lang="fr-FR" sz="1700" b="0" dirty="0">
                <a:solidFill>
                  <a:srgbClr val="2D2D2D"/>
                </a:solidFill>
              </a:rPr>
              <a:t>    Source Code: https://github.com/KATRIXBEE/verdict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1700" b="0" dirty="0">
                <a:solidFill>
                  <a:srgbClr val="2D2D2D"/>
                </a:solidFill>
              </a:rPr>
              <a:t>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03C82"/>
          </a:solidFill>
          <a:ln w="19050">
            <a:solidFill>
              <a:srgbClr val="1E82BE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</a:rPr>
              <a:t>VERDICT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5040757"/>
            <a:ext cx="2011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0050A0"/>
                </a:solidFill>
              </a:rPr>
              <a:t>ECI Verified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Form 26 Affidavits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Verified Public Record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Article 19(1)(a)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852928" y="5040757"/>
            <a:ext cx="2011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 err="1">
                <a:solidFill>
                  <a:srgbClr val="00823C"/>
                </a:solidFill>
              </a:rPr>
              <a:t>eCourts</a:t>
            </a:r>
            <a:r>
              <a:rPr sz="1400" b="1" dirty="0">
                <a:solidFill>
                  <a:srgbClr val="00823C"/>
                </a:solidFill>
              </a:rPr>
              <a:t> Mapped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Live Case Dockets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Verified Public Record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Article 19(1)(a)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093208" y="5040757"/>
            <a:ext cx="2011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C82D2D"/>
                </a:solidFill>
              </a:rPr>
              <a:t>CAG Audited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Official CAG Reports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Verified Public Record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Article 19(1)(a)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333488" y="5040757"/>
            <a:ext cx="2011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B45A00"/>
                </a:solidFill>
              </a:rPr>
              <a:t>Sansad Certified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Sansad.in Transcripts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Verified Public Record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Article 19(1)(a)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9573768" y="5040757"/>
            <a:ext cx="2011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2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300"/>
              </a:spcAft>
              <a:buNone/>
            </a:pPr>
            <a:r>
              <a:rPr sz="1400" b="1" dirty="0">
                <a:solidFill>
                  <a:srgbClr val="64288C"/>
                </a:solidFill>
              </a:rPr>
              <a:t>Open Source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Auditable Codebase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Verified Public Record</a:t>
            </a:r>
          </a:p>
          <a:p>
            <a:pPr algn="ctr">
              <a:spcAft>
                <a:spcPts val="100"/>
              </a:spcAft>
              <a:buNone/>
            </a:pPr>
            <a:r>
              <a:rPr sz="1400" b="0" dirty="0">
                <a:solidFill>
                  <a:srgbClr val="2D2D2D"/>
                </a:solidFill>
              </a:rPr>
              <a:t>Article 19(1)(a)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7508</TotalTime>
  <Words>1385</Words>
  <Application>Microsoft Office PowerPoint</Application>
  <PresentationFormat>Widescreen</PresentationFormat>
  <Paragraphs>178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KARTIK JADHAV B1-2620</cp:lastModifiedBy>
  <cp:revision>148</cp:revision>
  <dcterms:created xsi:type="dcterms:W3CDTF">2013-12-12T18:46:50Z</dcterms:created>
  <dcterms:modified xsi:type="dcterms:W3CDTF">2026-08-29T15:04:31Z</dcterms:modified>
  <cp:category/>
</cp:coreProperties>
</file>