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pPr eaLnBrk="1" hangingPunct="1">
              <a:spcBef>
                <a:spcPct val="0"/>
              </a:spcBef>
            </a:pPr>
            <a:endParaRPr lang="en-US">
              <a:ea typeface="ＭＳ Ｐゴシック" pitchFamily="1" charset="-128"/>
            </a:endParaRP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8357687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pPr>
              <a:buNone/>
            </a:pPr>
            <a:r>
              <a:rPr sz="3200" b="1">
                <a:solidFill>
                  <a:srgbClr val="0A2350"/>
                </a:solidFill>
              </a:rPr>
              <a:t>VERDICT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buNone/>
            </a:pPr>
            <a:r>
              <a:rPr sz="1300" b="1">
                <a:solidFill>
                  <a:srgbClr val="1E82BE"/>
                </a:solidFill>
              </a:rPr>
              <a:t>India's Politician Accountability &amp; Civic Intelligence Platform</a:t>
            </a:r>
          </a:p>
          <a:p>
            <a:pPr>
              <a:buNone/>
            </a:pPr>
            <a:r>
              <a:rPr sz="1100" b="0">
                <a:solidFill>
                  <a:srgbClr val="2D2D2D"/>
                </a:solidFill>
              </a:rPr>
              <a:t>Rate Your Neta. Know Your Money. Empower Democracy.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sp>
        <p:nvSpPr>
          <p:cNvPr id="10" name="TextBox 9"/>
          <p:cNvSpPr txBox="1"/>
          <p:nvPr/>
        </p:nvSpPr>
        <p:spPr>
          <a:xfrm>
            <a:off x="331286" y="2076450"/>
            <a:ext cx="5924550" cy="47030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spcAft>
                <a:spcPts val="600"/>
              </a:spcAft>
              <a:buNone/>
            </a:pPr>
            <a:r>
              <a:rPr sz="1100" b="1">
                <a:solidFill>
                  <a:srgbClr val="2D2D2D"/>
                </a:solidFill>
              </a:rPr>
              <a:t>Problem Statement ID: </a:t>
            </a:r>
            <a:r>
              <a:rPr sz="1100" b="1">
                <a:solidFill>
                  <a:srgbClr val="003C82"/>
                </a:solidFill>
              </a:rPr>
              <a:t>SIH26102</a:t>
            </a:r>
            <a:endParaRPr lang="en-US" dirty="0"/>
          </a:p>
          <a:p>
            <a:pPr>
              <a:spcAft>
                <a:spcPts val="600"/>
              </a:spcAft>
              <a:buNone/>
            </a:pPr>
            <a:r>
              <a:rPr sz="1100" b="1">
                <a:solidFill>
                  <a:srgbClr val="2D2D2D"/>
                </a:solidFill>
              </a:rPr>
              <a:t>Problem Statement Title: </a:t>
            </a:r>
            <a:r>
              <a:rPr sz="1100" b="1">
                <a:solidFill>
                  <a:srgbClr val="003C82"/>
                </a:solidFill>
              </a:rPr>
              <a:t>AI-Powered System to Detect Anomalies, Fraud &amp; Inefficiencies in MPLAD Scheme</a:t>
            </a:r>
          </a:p>
          <a:p>
            <a:pPr>
              <a:spcAft>
                <a:spcPts val="600"/>
              </a:spcAft>
              <a:buNone/>
            </a:pPr>
            <a:r>
              <a:rPr sz="1100" b="1">
                <a:solidFill>
                  <a:srgbClr val="2D2D2D"/>
                </a:solidFill>
              </a:rPr>
              <a:t>Theme: </a:t>
            </a:r>
            <a:r>
              <a:rPr sz="1100" b="0">
                <a:solidFill>
                  <a:srgbClr val="2D2D2D"/>
                </a:solidFill>
              </a:rPr>
              <a:t>Miscellaneous / Open Innovation</a:t>
            </a:r>
          </a:p>
          <a:p>
            <a:pPr>
              <a:spcAft>
                <a:spcPts val="600"/>
              </a:spcAft>
              <a:buNone/>
            </a:pPr>
            <a:r>
              <a:rPr sz="1100" b="1">
                <a:solidFill>
                  <a:srgbClr val="2D2D2D"/>
                </a:solidFill>
              </a:rPr>
              <a:t>PS Category: </a:t>
            </a:r>
            <a:r>
              <a:rPr sz="1100" b="0">
                <a:solidFill>
                  <a:srgbClr val="2D2D2D"/>
                </a:solidFill>
              </a:rPr>
              <a:t>Software</a:t>
            </a:r>
          </a:p>
          <a:p>
            <a:pPr>
              <a:spcAft>
                <a:spcPts val="600"/>
              </a:spcAft>
              <a:buNone/>
            </a:pPr>
            <a:r>
              <a:rPr sz="1100" b="1">
                <a:solidFill>
                  <a:srgbClr val="2D2D2D"/>
                </a:solidFill>
              </a:rPr>
              <a:t>Team ID: </a:t>
            </a:r>
            <a:r>
              <a:rPr sz="1100" b="1">
                <a:solidFill>
                  <a:srgbClr val="003C82"/>
                </a:solidFill>
              </a:rPr>
              <a:t>SIH2026-TEAM-VERDICT</a:t>
            </a:r>
          </a:p>
          <a:p>
            <a:pPr>
              <a:spcAft>
                <a:spcPts val="600"/>
              </a:spcAft>
              <a:buNone/>
            </a:pPr>
            <a:r>
              <a:rPr sz="1100" b="1">
                <a:solidFill>
                  <a:srgbClr val="2D2D2D"/>
                </a:solidFill>
              </a:rPr>
              <a:t>Team Name: </a:t>
            </a:r>
            <a:r>
              <a:rPr sz="1100" b="1">
                <a:solidFill>
                  <a:srgbClr val="003C82"/>
                </a:solidFill>
              </a:rPr>
              <a:t>VERDICT</a:t>
            </a:r>
          </a:p>
          <a:p>
            <a:pPr>
              <a:spcAft>
                <a:spcPts val="600"/>
              </a:spcAft>
              <a:buNone/>
            </a:pPr>
            <a:r>
              <a:rPr sz="1100" b="1">
                <a:solidFill>
                  <a:srgbClr val="2D2D2D"/>
                </a:solidFill>
              </a:rPr>
              <a:t>Live Platform: </a:t>
            </a:r>
            <a:r>
              <a:rPr sz="1100" b="1">
                <a:solidFill>
                  <a:srgbClr val="008C4B"/>
                </a:solidFill>
              </a:rPr>
              <a:t>https://verdict.vercel.app</a:t>
            </a: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15362" name="TextBox 8"/>
          <p:cNvSpPr txBox="1">
            <a:spLocks noChangeArrowheads="1"/>
          </p:cNvSpPr>
          <p:nvPr/>
        </p:nvSpPr>
        <p:spPr bwMode="auto">
          <a:xfrm>
            <a:off x="612648" y="1207008"/>
            <a:ext cx="10972800" cy="3017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36576" bIns="36576">
            <a:spAutoFit/>
          </a:bodyPr>
          <a:lstStyle/>
          <a:p>
            <a:pPr marL="342900" indent="-342900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>
                <a:solidFill>
                  <a:srgbClr val="C82D2D"/>
                </a:solidFill>
              </a:rPr>
              <a:t>THE CRITICAL CITIZEN PROBLEM IN INDIA TODAY:</a:t>
            </a:r>
            <a:endParaRPr lang="en-US" sz="3200" u="sng" dirty="0">
              <a:solidFill>
                <a:schemeClr val="tx2"/>
              </a:solidFill>
              <a:latin typeface="Arial" pitchFamily="34" charset="0"/>
              <a:cs typeface="Arial" pitchFamily="34" charset="0"/>
            </a:endParaRP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Candidate criminal cases &amp; wealth records are locked inside 400-page scanned affidavits and complex legal terminology.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Over ₹4.83 Lakh Crore in government fund misuse is buried inside technical CAG audit reports that voters never see.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Citizens have no single place before entering the voting booth to check: 'Is my MP performing well?'</a:t>
            </a:r>
          </a:p>
          <a:p>
            <a:pPr>
              <a:spcBef>
                <a:spcPts val="500"/>
              </a:spcBef>
              <a:spcAft>
                <a:spcPts val="200"/>
              </a:spcAft>
              <a:buNone/>
            </a:pPr>
            <a:r>
              <a:rPr sz="1050" b="1">
                <a:solidFill>
                  <a:srgbClr val="008C4B"/>
                </a:solidFill>
              </a:rPr>
              <a:t>HOW VERDICT SOLVES THIS (ALL-IN-ONE CITIZEN INTELLIGENCE PORTAL):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0.0 to 10.0 VERDICT Score: A credit-score-like rating for all 543 Lok Sabha MPs based on verified public records.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Plain-Language Criminal Translator: Automatic translation of IPC/BNS sections into 4 severity tiers and layman English.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Ground Truth Money Trail: Interactive tracking of CAG audit findings, fund diversions &amp; international cost benchmarks.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Neta Face-Off: Side-by-side comparative matrix evaluating any two MPs on attendance, debates, wealth, and cases.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03C82"/>
          </a:solidFill>
          <a:ln w="19050">
            <a:solidFill>
              <a:srgbClr val="1E82BE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None/>
            </a:pPr>
            <a:r>
              <a:rPr sz="1100" b="1">
                <a:solidFill>
                  <a:srgbClr val="FFFFFF"/>
                </a:solidFill>
              </a:rPr>
              <a:t>VERDICT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3" name="Rounded Rectangle 15362"/>
          <p:cNvSpPr/>
          <p:nvPr/>
        </p:nvSpPr>
        <p:spPr>
          <a:xfrm>
            <a:off x="612648" y="4343400"/>
            <a:ext cx="2240280" cy="150876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C8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300"/>
              </a:spcAft>
              <a:buNone/>
            </a:pPr>
            <a:r>
              <a:rPr sz="950" b="1">
                <a:solidFill>
                  <a:srgbClr val="C82D2D"/>
                </a:solidFill>
              </a:rPr>
              <a:t>1. Citizen Query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Voter seeks real record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of candidate before elections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without political spin</a:t>
            </a:r>
          </a:p>
        </p:txBody>
      </p:sp>
      <p:sp>
        <p:nvSpPr>
          <p:cNvPr id="15364" name="TextBox 15363"/>
          <p:cNvSpPr txBox="1"/>
          <p:nvPr/>
        </p:nvSpPr>
        <p:spPr>
          <a:xfrm>
            <a:off x="2962656" y="4937760"/>
            <a:ext cx="365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1E82BE"/>
                </a:solidFill>
              </a:rPr>
              <a:t>➔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3493008" y="4343400"/>
            <a:ext cx="2240280" cy="1508760"/>
          </a:xfrm>
          <a:prstGeom prst="roundRect">
            <a:avLst/>
          </a:prstGeom>
          <a:solidFill>
            <a:srgbClr val="EEF6FF"/>
          </a:solidFill>
          <a:ln w="19050">
            <a:solidFill>
              <a:srgbClr val="1E82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300"/>
              </a:spcAft>
              <a:buNone/>
            </a:pPr>
            <a:r>
              <a:rPr sz="950" b="1">
                <a:solidFill>
                  <a:srgbClr val="003C82"/>
                </a:solidFill>
              </a:rPr>
              <a:t>2. VERDICT Engine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Ingests ECI affidavits,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eCourts live dockets,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Sansad &amp; CAG audit files</a:t>
            </a:r>
          </a:p>
        </p:txBody>
      </p:sp>
      <p:sp>
        <p:nvSpPr>
          <p:cNvPr id="15366" name="TextBox 15365"/>
          <p:cNvSpPr txBox="1"/>
          <p:nvPr/>
        </p:nvSpPr>
        <p:spPr>
          <a:xfrm>
            <a:off x="5843016" y="4937760"/>
            <a:ext cx="365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1E82BE"/>
                </a:solidFill>
              </a:rPr>
              <a:t>➔</a:t>
            </a:r>
          </a:p>
        </p:txBody>
      </p:sp>
      <p:sp>
        <p:nvSpPr>
          <p:cNvPr id="15367" name="Rounded Rectangle 15366"/>
          <p:cNvSpPr/>
          <p:nvPr/>
        </p:nvSpPr>
        <p:spPr>
          <a:xfrm>
            <a:off x="6373368" y="4343400"/>
            <a:ext cx="2240280" cy="150876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D7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300"/>
              </a:spcAft>
              <a:buNone/>
            </a:pPr>
            <a:r>
              <a:rPr sz="950" b="1">
                <a:solidFill>
                  <a:srgbClr val="D75F00"/>
                </a:solidFill>
              </a:rPr>
              <a:t>3. 0–10 Trust Score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Instant plain-language score: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Attendance, criminal charges,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and wealth growth alert</a:t>
            </a:r>
          </a:p>
        </p:txBody>
      </p:sp>
      <p:sp>
        <p:nvSpPr>
          <p:cNvPr id="15368" name="TextBox 15367"/>
          <p:cNvSpPr txBox="1"/>
          <p:nvPr/>
        </p:nvSpPr>
        <p:spPr>
          <a:xfrm>
            <a:off x="8723376" y="4937760"/>
            <a:ext cx="365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1E82BE"/>
                </a:solidFill>
              </a:rPr>
              <a:t>➔</a:t>
            </a:r>
          </a:p>
        </p:txBody>
      </p:sp>
      <p:sp>
        <p:nvSpPr>
          <p:cNvPr id="15369" name="Rounded Rectangle 15368"/>
          <p:cNvSpPr/>
          <p:nvPr/>
        </p:nvSpPr>
        <p:spPr>
          <a:xfrm>
            <a:off x="9253728" y="4343400"/>
            <a:ext cx="2240280" cy="150876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08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300"/>
              </a:spcAft>
              <a:buNone/>
            </a:pPr>
            <a:r>
              <a:rPr sz="950" b="1">
                <a:solidFill>
                  <a:srgbClr val="008C4B"/>
                </a:solidFill>
              </a:rPr>
              <a:t>4. Informed Ballot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Democracy empowered: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Citizen votes based on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hard verified facts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207008"/>
            <a:ext cx="10972800" cy="3017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36576" bIns="36576">
            <a:spAutoFit/>
          </a:bodyPr>
          <a:lstStyle/>
          <a:p>
            <a:pPr marL="342900" indent="-342900" algn="just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>
                <a:solidFill>
                  <a:srgbClr val="003C82"/>
                </a:solidFill>
              </a:rPr>
              <a:t>TECH STACK &amp; ARCHITECTURE (Simple, Modern &amp; Production-Ready):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Web &amp; Mobile UI: Next.js 15 (App Router) + React 19 + Tailwind CSS — responsive, fast PWA with 44px touch targets.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Secure Database: PostgreSQL via Supabase with Row-Level Security (RLS), atomic RPCs, and zero client-side secrets.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Automated Ingestion: Python pipelines (BeautifulSoup, pandas, requests) scraping ECI, eCourts &amp; Sansad.in.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Data Visualizations: Recharts for interactive asset growth trends, budget flows, and CAG category donut charts.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Security &amp; SRE: SSRF proxy validation, sliding-window rate limiting, Sentry telemetry, and 0-emoji Lucide icons.</a:t>
            </a:r>
          </a:p>
          <a:p>
            <a:pPr>
              <a:spcBef>
                <a:spcPts val="500"/>
              </a:spcBef>
              <a:spcAft>
                <a:spcPts val="200"/>
              </a:spcAft>
              <a:buNone/>
            </a:pPr>
            <a:r>
              <a:rPr sz="1050" b="1">
                <a:solidFill>
                  <a:srgbClr val="003C82"/>
                </a:solidFill>
              </a:rPr>
              <a:t>MATHEMATICAL SCORING FORMULATION (0.0 to 10.0 Scale):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Base Score: 5.0 / 10.0 (all elected MPs start with an equal neutral baseline).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Positive Vectors: +2.0 (Parliament Attendance ≥90%) | +1.0 (Clean Legal Record) | +0.5 (Verified Degree &amp; Loyalty).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Penal Deductions: Up to -4.0 for Severe Criminal Prosecutions (Murder, Corruption, Rape) | -2.0 for &gt;500% Asset Outliers.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03C82"/>
          </a:solidFill>
          <a:ln w="19050">
            <a:solidFill>
              <a:srgbClr val="1E82BE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None/>
            </a:pPr>
            <a:r>
              <a:rPr sz="1100" b="1">
                <a:solidFill>
                  <a:srgbClr val="FFFFFF"/>
                </a:solidFill>
              </a:rPr>
              <a:t>VERDICT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612648" y="4343400"/>
            <a:ext cx="1783080" cy="1508760"/>
          </a:xfrm>
          <a:prstGeom prst="roundRect">
            <a:avLst/>
          </a:prstGeom>
          <a:solidFill>
            <a:srgbClr val="EEF6FF"/>
          </a:solidFill>
          <a:ln w="19050">
            <a:solidFill>
              <a:srgbClr val="005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300"/>
              </a:spcAft>
              <a:buNone/>
            </a:pPr>
            <a:r>
              <a:rPr sz="950" b="1">
                <a:solidFill>
                  <a:srgbClr val="0050A0"/>
                </a:solidFill>
              </a:rPr>
              <a:t>ECI Form 26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Assets, education,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affidavits &amp; filings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2505456" y="4343400"/>
            <a:ext cx="1783080" cy="1508760"/>
          </a:xfrm>
          <a:prstGeom prst="roundRect">
            <a:avLst/>
          </a:prstGeom>
          <a:solidFill>
            <a:srgbClr val="EEF6FF"/>
          </a:solidFill>
          <a:ln w="19050">
            <a:solidFill>
              <a:srgbClr val="0078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300"/>
              </a:spcAft>
              <a:buNone/>
            </a:pPr>
            <a:r>
              <a:rPr sz="950" b="1">
                <a:solidFill>
                  <a:srgbClr val="00785A"/>
                </a:solidFill>
              </a:rPr>
              <a:t>eCourts NJDG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Live court case status,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FIRs &amp; IPC sections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4398264" y="4343400"/>
            <a:ext cx="1783080" cy="1508760"/>
          </a:xfrm>
          <a:prstGeom prst="roundRect">
            <a:avLst/>
          </a:prstGeom>
          <a:solidFill>
            <a:srgbClr val="EEF6FF"/>
          </a:solidFill>
          <a:ln w="19050">
            <a:solidFill>
              <a:srgbClr val="B4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300"/>
              </a:spcAft>
              <a:buNone/>
            </a:pPr>
            <a:r>
              <a:rPr sz="950" b="1">
                <a:solidFill>
                  <a:srgbClr val="B45A00"/>
                </a:solidFill>
              </a:rPr>
              <a:t>Sansad / PRS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Parliament attendance,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debates &amp; questions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291071" y="4343400"/>
            <a:ext cx="1783080" cy="1508760"/>
          </a:xfrm>
          <a:prstGeom prst="roundRect">
            <a:avLst/>
          </a:prstGeom>
          <a:solidFill>
            <a:srgbClr val="EEF6FF"/>
          </a:solidFill>
          <a:ln w="19050">
            <a:solidFill>
              <a:srgbClr val="B4282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300"/>
              </a:spcAft>
              <a:buNone/>
            </a:pPr>
            <a:r>
              <a:rPr sz="950" b="1">
                <a:solidFill>
                  <a:srgbClr val="B42828"/>
                </a:solidFill>
              </a:rPr>
              <a:t>CAG Audits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Official performance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audit reports &amp; data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8229600" y="4937760"/>
            <a:ext cx="365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1E82BE"/>
                </a:solidFill>
              </a:rPr>
              <a:t>➔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8641080" y="4343400"/>
            <a:ext cx="2926080" cy="150876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08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300"/>
              </a:spcAft>
              <a:buNone/>
            </a:pPr>
            <a:r>
              <a:rPr sz="1000" b="1">
                <a:solidFill>
                  <a:srgbClr val="008C4B"/>
                </a:solidFill>
              </a:rPr>
              <a:t>VERDICT Platform Engine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• Normalization &amp; Score Calculator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• IPC Plain-Language Translator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• Static HTML Pre-render (593 pages)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• Citizen Dashboard &amp; API Gateway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207008"/>
            <a:ext cx="10972800" cy="3017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36576" bIns="36576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tabLst/>
              <a:defRPr/>
              <a:buNone/>
            </a:pPr>
            <a:r>
              <a:rPr sz="1050" b="1">
                <a:solidFill>
                  <a:srgbClr val="003C82"/>
                </a:solidFill>
              </a:rPr>
              <a:t>IS VERDICT FEASIBLE? YES — PRODUCTION SYSTEM IS ALREADY LIVE &amp; TESTED: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Live Production Build: 593 static routes pre-rendered on Vercel at https://verdict.vercel.app with 0 build errors.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563 Real Politicians Ingested: Complete profiles for 543 Lok Sabha MPs with verified photos, portfolios &amp; asset history.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Rigorous SRE Testing: 49/49 automated unit &amp; integration tests passing; P95 response latency &lt;45ms under 100 VUs.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Low Cost &amp; Scalable: Entire serverless architecture operates under ₹1,500/month on cloud edge tiers.</a:t>
            </a:r>
          </a:p>
          <a:p>
            <a:pPr>
              <a:spcBef>
                <a:spcPts val="500"/>
              </a:spcBef>
              <a:spcAft>
                <a:spcPts val="200"/>
              </a:spcAft>
              <a:buNone/>
            </a:pPr>
            <a:r>
              <a:rPr sz="1050" b="1">
                <a:solidFill>
                  <a:srgbClr val="003C82"/>
                </a:solidFill>
              </a:rPr>
              <a:t>RISK MITIGATION STRATEGIES (Overcoming Core Real-World Challenges):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Data Scarcity Risk: Solved via automated multi-source scrapers with robust fallback mock caches for offline resilience.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Legal / Defamation Risk: Solved by strictly presenting verbatim official records (CAG reports, Supreme Court orders, ECI Form 26).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Bot Rating Spam Risk: Solved via server-side session checks, IP-based sliding window rate limits, and Zod input validation.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03C82"/>
          </a:solidFill>
          <a:ln w="19050">
            <a:solidFill>
              <a:srgbClr val="1E82BE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None/>
            </a:pPr>
            <a:r>
              <a:rPr sz="1100" b="1">
                <a:solidFill>
                  <a:srgbClr val="FFFFFF"/>
                </a:solidFill>
              </a:rPr>
              <a:t>VERDICT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612648" y="4343400"/>
            <a:ext cx="2578608" cy="150876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08C4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300"/>
              </a:spcAft>
              <a:buNone/>
            </a:pPr>
            <a:r>
              <a:rPr sz="950" b="1">
                <a:solidFill>
                  <a:srgbClr val="008C4B"/>
                </a:solidFill>
              </a:rPr>
              <a:t>PHASE 1 (LIVE TODAY)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v1.0 Operational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• 543 Lok Sabha MPs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• 10 CAG Scam Dossiers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• 593 Static Pages Built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3227832" y="4937760"/>
            <a:ext cx="365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1E82BE"/>
                </a:solidFill>
              </a:rPr>
              <a:t>➔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3392424" y="4343400"/>
            <a:ext cx="2578608" cy="1508760"/>
          </a:xfrm>
          <a:prstGeom prst="roundRect">
            <a:avLst/>
          </a:prstGeom>
          <a:solidFill>
            <a:srgbClr val="EEF6FF"/>
          </a:solidFill>
          <a:ln w="19050">
            <a:solidFill>
              <a:srgbClr val="1E82B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300"/>
              </a:spcAft>
              <a:buNone/>
            </a:pPr>
            <a:r>
              <a:rPr sz="950" b="1">
                <a:solidFill>
                  <a:srgbClr val="1E82BE"/>
                </a:solidFill>
              </a:rPr>
              <a:t>PHASE 2 (6 MONTHS)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v2.0 State Expansion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• 4,123 State MLAs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• 28 State Vidhan Sabhas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• State Budget Audit Tracker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6007607" y="4937760"/>
            <a:ext cx="365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1E82BE"/>
                </a:solidFill>
              </a:rPr>
              <a:t>➔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6172200" y="4343400"/>
            <a:ext cx="2578608" cy="150876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D75F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300"/>
              </a:spcAft>
              <a:buNone/>
            </a:pPr>
            <a:r>
              <a:rPr sz="950" b="1">
                <a:solidFill>
                  <a:srgbClr val="D75F00"/>
                </a:solidFill>
              </a:rPr>
              <a:t>PHASE 3 (12 MONTHS)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v3.0 Citizen Identity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• 12 Indian Languages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• DigiLocker 1-Citizen-1-Vote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• Constituency WhatsApp Alerts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8787384" y="4937760"/>
            <a:ext cx="36576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ctr">
              <a:buNone/>
            </a:pPr>
            <a:r>
              <a:rPr sz="1400" b="1">
                <a:solidFill>
                  <a:srgbClr val="1E82BE"/>
                </a:solidFill>
              </a:rPr>
              <a:t>➔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8951976" y="4343400"/>
            <a:ext cx="2578608" cy="1508760"/>
          </a:xfrm>
          <a:prstGeom prst="roundRect">
            <a:avLst/>
          </a:prstGeom>
          <a:solidFill>
            <a:srgbClr val="F5F3FF"/>
          </a:solidFill>
          <a:ln w="19050">
            <a:solidFill>
              <a:srgbClr val="82288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300"/>
              </a:spcAft>
              <a:buNone/>
            </a:pPr>
            <a:r>
              <a:rPr sz="950" b="1">
                <a:solidFill>
                  <a:srgbClr val="822882"/>
                </a:solidFill>
              </a:rPr>
              <a:t>PHASE 4 (24 MONTHS)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v4.0 Ground Truth AI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• Satellite Project Audits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• Live Sansad TV Speech NLP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• Blockchain Proof Ledger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207008"/>
            <a:ext cx="10972800" cy="3017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36576" bIns="36576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tabLst/>
              <a:defRPr/>
              <a:buNone/>
            </a:pPr>
            <a:r>
              <a:rPr sz="1050" b="1">
                <a:solidFill>
                  <a:srgbClr val="003C82"/>
                </a:solidFill>
              </a:rPr>
              <a:t>MEASURABLE IMPACT &amp; BENEFICIARIES ACROSS INDIAN SOCIETY: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96 Crore Registered Voters: Enables instant 10-second candidate audits before voting — ending democratic information asymmetry.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Taxpayers &amp; Citizens: Demystifies the ₹47.94 Lakh Crore Union Budget, tracking exactly where funds flowed or stalled.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Grassroots RTI Activists: 1-click Section 6(1) RTI Form 'A' application generator targeting local Public Information Officers.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Investigative Journalists: Centralized, source-linked repository of MP asset histories, party transitions, and court dockets.</a:t>
            </a:r>
          </a:p>
          <a:p>
            <a:pPr>
              <a:spcBef>
                <a:spcPts val="500"/>
              </a:spcBef>
              <a:spcAft>
                <a:spcPts val="200"/>
              </a:spcAft>
              <a:buNone/>
            </a:pPr>
            <a:r>
              <a:rPr sz="1050" b="1">
                <a:solidFill>
                  <a:srgbClr val="003C82"/>
                </a:solidFill>
              </a:rPr>
              <a:t>SYSTEMIC DEMOCRATIC &amp; NATIONAL BENEFITS: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Disincentivizes Crime in Politics: Publicly exposes severe criminal charges and tracks disproportional wealth growth.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Supports 'Digital India' &amp; Open Governance: Converts fragmented, hard-to-read government PDFs into structured citizen insights.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Promotes Issue-Based Politics: Moves electoral discourse away from divisive rhetoric toward verifiable performance metrics.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03C82"/>
          </a:solidFill>
          <a:ln w="19050">
            <a:solidFill>
              <a:srgbClr val="1E82BE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None/>
            </a:pPr>
            <a:r>
              <a:rPr sz="1100" b="1">
                <a:solidFill>
                  <a:srgbClr val="FFFFFF"/>
                </a:solidFill>
              </a:rPr>
              <a:t>VERDICT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612648" y="4343400"/>
            <a:ext cx="2578608" cy="1508760"/>
          </a:xfrm>
          <a:prstGeom prst="roundRect">
            <a:avLst/>
          </a:prstGeom>
          <a:solidFill>
            <a:srgbClr val="EEF6FF"/>
          </a:solidFill>
          <a:ln w="19050">
            <a:solidFill>
              <a:srgbClr val="005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300"/>
              </a:spcAft>
              <a:buNone/>
            </a:pPr>
            <a:r>
              <a:rPr sz="1000" b="1">
                <a:solidFill>
                  <a:srgbClr val="0050A0"/>
                </a:solidFill>
              </a:rPr>
              <a:t>96 CRORE VOTERS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Empowered before elections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with instant 0–10 scorecards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and plain-language records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392424" y="4343400"/>
            <a:ext cx="2578608" cy="1508760"/>
          </a:xfrm>
          <a:prstGeom prst="roundRect">
            <a:avLst/>
          </a:prstGeom>
          <a:solidFill>
            <a:srgbClr val="ECFDF5"/>
          </a:solidFill>
          <a:ln w="19050">
            <a:solidFill>
              <a:srgbClr val="00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300"/>
              </a:spcAft>
              <a:buNone/>
            </a:pPr>
            <a:r>
              <a:rPr sz="1000" b="1">
                <a:solidFill>
                  <a:srgbClr val="00823C"/>
                </a:solidFill>
              </a:rPr>
              <a:t>543 MPs PROFILED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100% 18th Lok Sabha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with attendance, wealth history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and court case dockets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6172200" y="4343400"/>
            <a:ext cx="2578608" cy="1508760"/>
          </a:xfrm>
          <a:prstGeom prst="roundRect">
            <a:avLst/>
          </a:prstGeom>
          <a:solidFill>
            <a:srgbClr val="FEF2F2"/>
          </a:solidFill>
          <a:ln w="19050">
            <a:solidFill>
              <a:srgbClr val="C8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300"/>
              </a:spcAft>
              <a:buNone/>
            </a:pPr>
            <a:r>
              <a:rPr sz="1000" b="1">
                <a:solidFill>
                  <a:srgbClr val="C82D2D"/>
                </a:solidFill>
              </a:rPr>
              <a:t>₹4.83 LAKH CRORE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Public capital audited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across 10 verified CAG cases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with loss translation math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8951976" y="4343400"/>
            <a:ext cx="2578608" cy="1508760"/>
          </a:xfrm>
          <a:prstGeom prst="roundRect">
            <a:avLst/>
          </a:prstGeom>
          <a:solidFill>
            <a:srgbClr val="FFFBEB"/>
          </a:solidFill>
          <a:ln w="19050">
            <a:solidFill>
              <a:srgbClr val="B4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300"/>
              </a:spcAft>
              <a:buNone/>
            </a:pPr>
            <a:r>
              <a:rPr sz="1000" b="1">
                <a:solidFill>
                  <a:srgbClr val="B45A00"/>
                </a:solidFill>
              </a:rPr>
              <a:t>100+ GLOBAL INDICES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India's rank vs world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across 14 domains with</a:t>
            </a:r>
          </a:p>
          <a:p>
            <a:pPr algn="ctr">
              <a:spcAft>
                <a:spcPts val="100"/>
              </a:spcAft>
              <a:buNone/>
            </a:pPr>
            <a:r>
              <a:rPr sz="800" b="0">
                <a:solidFill>
                  <a:srgbClr val="2D2D2D"/>
                </a:solidFill>
              </a:rPr>
              <a:t>20-yr Rupee currency ledger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17410" name="TextBox 8"/>
          <p:cNvSpPr txBox="1">
            <a:spLocks noChangeArrowheads="1"/>
          </p:cNvSpPr>
          <p:nvPr/>
        </p:nvSpPr>
        <p:spPr bwMode="auto">
          <a:xfrm>
            <a:off x="612648" y="1207008"/>
            <a:ext cx="10972800" cy="30175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 lIns="45720" rIns="45720" tIns="36576" bIns="36576">
            <a:spAutoFit/>
          </a:bodyPr>
          <a:lstStyle/>
          <a:p>
            <a:pPr marL="342900" marR="0" lvl="0" indent="-342900" algn="just" defTabSz="457200" rtl="0" eaLnBrk="1" fontAlgn="base" latinLnBrk="0" hangingPunct="1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Tx/>
              <a:buSzTx/>
              <a:tabLst/>
              <a:defRPr/>
              <a:buNone/>
            </a:pPr>
            <a:r>
              <a:rPr sz="1050" b="1">
                <a:solidFill>
                  <a:srgbClr val="003C82"/>
                </a:solidFill>
              </a:rPr>
              <a:t>OFFICIAL GOVERNMENT DATA SOURCES &amp; STATUTORY REFERENCES:</a:t>
            </a:r>
            <a:endParaRPr kumimoji="0" lang="en-US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itchFamily="34" charset="0"/>
              <a:ea typeface="ＭＳ Ｐゴシック" pitchFamily="1" charset="-128"/>
              <a:cs typeface="Arial" pitchFamily="34" charset="0"/>
            </a:endParaRP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Election Commission of India (ECI): Form 26 candidate affidavits, assets &amp; education declarations (affidavit.eci.gov.in)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National Judicial Data Grid (NJDG) / eCourts: Live district court case status, FIRs &amp; IPC sections (ecourts.gov.in)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Sansad.in &amp; PRS Legislative Research: Official Lok Sabha MP attendance transcripts, debate counts &amp; questions asked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CAG Audit Reports (cag.gov.in): Report 16/2023 (Dwarka Expressway), Report 7/2023 (PM-JAY), Report 34/2017 (Clean Energy), Minor Head 800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Supreme Court of India: Landmark orders in WP(C) 318/2006 (BOCW Cess Fund) &amp; WP(C) 202/1995 (CAMPA Afforestation)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Global Governance Indices: World Bank, IMF, UNDP Human Development Index, RSF Press Freedom, WEF Gender Gap, WHO Health</a:t>
            </a:r>
          </a:p>
          <a:p>
            <a:pPr>
              <a:spcBef>
                <a:spcPts val="500"/>
              </a:spcBef>
              <a:spcAft>
                <a:spcPts val="200"/>
              </a:spcAft>
              <a:buNone/>
            </a:pPr>
            <a:r>
              <a:rPr sz="1050" b="1">
                <a:solidFill>
                  <a:srgbClr val="003C82"/>
                </a:solidFill>
              </a:rPr>
              <a:t>LIVE PLATFORM REPOSITORIES &amp; DOCUMENTATION: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Live Production URL: https://verdict.vercel.app  |  Source Code: https://github.com/KATRIXBEE/verdict</a:t>
            </a:r>
          </a:p>
          <a:p>
            <a:pPr>
              <a:spcBef>
                <a:spcPts val="0"/>
              </a:spcBef>
              <a:spcAft>
                <a:spcPts val="150"/>
              </a:spcAft>
              <a:buNone/>
            </a:pPr>
            <a:r>
              <a:rPr sz="900" b="0">
                <a:solidFill>
                  <a:srgbClr val="2D2D2D"/>
                </a:solidFill>
              </a:rPr>
              <a:t>  • Interactive REST API Docs: https://verdict.vercel.app/api-docs (OpenAPI / Swagger UI Documentation)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  <a:solidFill>
            <a:srgbClr val="003C82"/>
          </a:solidFill>
          <a:ln w="19050">
            <a:solidFill>
              <a:srgbClr val="1E82BE"/>
            </a:solidFill>
          </a:ln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>
              <a:buNone/>
            </a:pPr>
            <a:r>
              <a:rPr sz="1100" b="1">
                <a:solidFill>
                  <a:srgbClr val="FFFFFF"/>
                </a:solidFill>
              </a:rPr>
              <a:t>VERDICT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1" name="Rounded Rectangle 17410"/>
          <p:cNvSpPr/>
          <p:nvPr/>
        </p:nvSpPr>
        <p:spPr>
          <a:xfrm>
            <a:off x="612648" y="4434840"/>
            <a:ext cx="2011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50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300"/>
              </a:spcAft>
              <a:buNone/>
            </a:pPr>
            <a:r>
              <a:rPr sz="950" b="1">
                <a:solidFill>
                  <a:srgbClr val="0050A0"/>
                </a:solidFill>
              </a:rPr>
              <a:t>ECI Verified</a:t>
            </a:r>
          </a:p>
          <a:p>
            <a:pPr algn="ctr">
              <a:spcAft>
                <a:spcPts val="100"/>
              </a:spcAft>
              <a:buNone/>
            </a:pPr>
            <a:r>
              <a:rPr sz="750" b="0">
                <a:solidFill>
                  <a:srgbClr val="2D2D2D"/>
                </a:solidFill>
              </a:rPr>
              <a:t>Form 26 Affidavits</a:t>
            </a:r>
          </a:p>
          <a:p>
            <a:pPr algn="ctr">
              <a:spcAft>
                <a:spcPts val="100"/>
              </a:spcAft>
              <a:buNone/>
            </a:pPr>
            <a:r>
              <a:rPr sz="750" b="0">
                <a:solidFill>
                  <a:srgbClr val="2D2D2D"/>
                </a:solidFill>
              </a:rPr>
              <a:t>Verified Public Record</a:t>
            </a:r>
          </a:p>
          <a:p>
            <a:pPr algn="ctr">
              <a:spcAft>
                <a:spcPts val="100"/>
              </a:spcAft>
              <a:buNone/>
            </a:pPr>
            <a:r>
              <a:rPr sz="750" b="0">
                <a:solidFill>
                  <a:srgbClr val="2D2D2D"/>
                </a:solidFill>
              </a:rPr>
              <a:t>Article 19(1)(a)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2852928" y="4434840"/>
            <a:ext cx="2011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0082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300"/>
              </a:spcAft>
              <a:buNone/>
            </a:pPr>
            <a:r>
              <a:rPr sz="950" b="1">
                <a:solidFill>
                  <a:srgbClr val="00823C"/>
                </a:solidFill>
              </a:rPr>
              <a:t>eCourts Mapped</a:t>
            </a:r>
          </a:p>
          <a:p>
            <a:pPr algn="ctr">
              <a:spcAft>
                <a:spcPts val="100"/>
              </a:spcAft>
              <a:buNone/>
            </a:pPr>
            <a:r>
              <a:rPr sz="750" b="0">
                <a:solidFill>
                  <a:srgbClr val="2D2D2D"/>
                </a:solidFill>
              </a:rPr>
              <a:t>Live Case Dockets</a:t>
            </a:r>
          </a:p>
          <a:p>
            <a:pPr algn="ctr">
              <a:spcAft>
                <a:spcPts val="100"/>
              </a:spcAft>
              <a:buNone/>
            </a:pPr>
            <a:r>
              <a:rPr sz="750" b="0">
                <a:solidFill>
                  <a:srgbClr val="2D2D2D"/>
                </a:solidFill>
              </a:rPr>
              <a:t>Verified Public Record</a:t>
            </a:r>
          </a:p>
          <a:p>
            <a:pPr algn="ctr">
              <a:spcAft>
                <a:spcPts val="100"/>
              </a:spcAft>
              <a:buNone/>
            </a:pPr>
            <a:r>
              <a:rPr sz="750" b="0">
                <a:solidFill>
                  <a:srgbClr val="2D2D2D"/>
                </a:solidFill>
              </a:rPr>
              <a:t>Article 19(1)(a)</a:t>
            </a:r>
          </a:p>
        </p:txBody>
      </p:sp>
      <p:sp>
        <p:nvSpPr>
          <p:cNvPr id="17413" name="Rounded Rectangle 17412"/>
          <p:cNvSpPr/>
          <p:nvPr/>
        </p:nvSpPr>
        <p:spPr>
          <a:xfrm>
            <a:off x="5093208" y="4434840"/>
            <a:ext cx="2011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C82D2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300"/>
              </a:spcAft>
              <a:buNone/>
            </a:pPr>
            <a:r>
              <a:rPr sz="950" b="1">
                <a:solidFill>
                  <a:srgbClr val="C82D2D"/>
                </a:solidFill>
              </a:rPr>
              <a:t>CAG Audited</a:t>
            </a:r>
          </a:p>
          <a:p>
            <a:pPr algn="ctr">
              <a:spcAft>
                <a:spcPts val="100"/>
              </a:spcAft>
              <a:buNone/>
            </a:pPr>
            <a:r>
              <a:rPr sz="750" b="0">
                <a:solidFill>
                  <a:srgbClr val="2D2D2D"/>
                </a:solidFill>
              </a:rPr>
              <a:t>Official CAG Reports</a:t>
            </a:r>
          </a:p>
          <a:p>
            <a:pPr algn="ctr">
              <a:spcAft>
                <a:spcPts val="100"/>
              </a:spcAft>
              <a:buNone/>
            </a:pPr>
            <a:r>
              <a:rPr sz="750" b="0">
                <a:solidFill>
                  <a:srgbClr val="2D2D2D"/>
                </a:solidFill>
              </a:rPr>
              <a:t>Verified Public Record</a:t>
            </a:r>
          </a:p>
          <a:p>
            <a:pPr algn="ctr">
              <a:spcAft>
                <a:spcPts val="100"/>
              </a:spcAft>
              <a:buNone/>
            </a:pPr>
            <a:r>
              <a:rPr sz="750" b="0">
                <a:solidFill>
                  <a:srgbClr val="2D2D2D"/>
                </a:solidFill>
              </a:rPr>
              <a:t>Article 19(1)(a)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7333488" y="4434840"/>
            <a:ext cx="2011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B45A0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300"/>
              </a:spcAft>
              <a:buNone/>
            </a:pPr>
            <a:r>
              <a:rPr sz="950" b="1">
                <a:solidFill>
                  <a:srgbClr val="B45A00"/>
                </a:solidFill>
              </a:rPr>
              <a:t>Sansad Certified</a:t>
            </a:r>
          </a:p>
          <a:p>
            <a:pPr algn="ctr">
              <a:spcAft>
                <a:spcPts val="100"/>
              </a:spcAft>
              <a:buNone/>
            </a:pPr>
            <a:r>
              <a:rPr sz="750" b="0">
                <a:solidFill>
                  <a:srgbClr val="2D2D2D"/>
                </a:solidFill>
              </a:rPr>
              <a:t>Sansad.in Transcripts</a:t>
            </a:r>
          </a:p>
          <a:p>
            <a:pPr algn="ctr">
              <a:spcAft>
                <a:spcPts val="100"/>
              </a:spcAft>
              <a:buNone/>
            </a:pPr>
            <a:r>
              <a:rPr sz="750" b="0">
                <a:solidFill>
                  <a:srgbClr val="2D2D2D"/>
                </a:solidFill>
              </a:rPr>
              <a:t>Verified Public Record</a:t>
            </a:r>
          </a:p>
          <a:p>
            <a:pPr algn="ctr">
              <a:spcAft>
                <a:spcPts val="100"/>
              </a:spcAft>
              <a:buNone/>
            </a:pPr>
            <a:r>
              <a:rPr sz="750" b="0">
                <a:solidFill>
                  <a:srgbClr val="2D2D2D"/>
                </a:solidFill>
              </a:rPr>
              <a:t>Article 19(1)(a)</a:t>
            </a:r>
          </a:p>
        </p:txBody>
      </p:sp>
      <p:sp>
        <p:nvSpPr>
          <p:cNvPr id="17415" name="Rounded Rectangle 17414"/>
          <p:cNvSpPr/>
          <p:nvPr/>
        </p:nvSpPr>
        <p:spPr>
          <a:xfrm>
            <a:off x="9573768" y="4434840"/>
            <a:ext cx="2011680" cy="1325880"/>
          </a:xfrm>
          <a:prstGeom prst="roundRect">
            <a:avLst/>
          </a:prstGeom>
          <a:solidFill>
            <a:srgbClr val="FFFFFF"/>
          </a:solidFill>
          <a:ln w="19050">
            <a:solidFill>
              <a:srgbClr val="64288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54864" bIns="54864"/>
          <a:lstStyle/>
          <a:p>
            <a:pPr algn="ctr">
              <a:spcAft>
                <a:spcPts val="300"/>
              </a:spcAft>
              <a:buNone/>
            </a:pPr>
            <a:r>
              <a:rPr sz="950" b="1">
                <a:solidFill>
                  <a:srgbClr val="64288C"/>
                </a:solidFill>
              </a:rPr>
              <a:t>Open Source</a:t>
            </a:r>
          </a:p>
          <a:p>
            <a:pPr algn="ctr">
              <a:spcAft>
                <a:spcPts val="100"/>
              </a:spcAft>
              <a:buNone/>
            </a:pPr>
            <a:r>
              <a:rPr sz="750" b="0">
                <a:solidFill>
                  <a:srgbClr val="2D2D2D"/>
                </a:solidFill>
              </a:rPr>
              <a:t>Auditable Codebase</a:t>
            </a:r>
          </a:p>
          <a:p>
            <a:pPr algn="ctr">
              <a:spcAft>
                <a:spcPts val="100"/>
              </a:spcAft>
              <a:buNone/>
            </a:pPr>
            <a:r>
              <a:rPr sz="750" b="0">
                <a:solidFill>
                  <a:srgbClr val="2D2D2D"/>
                </a:solidFill>
              </a:rPr>
              <a:t>Verified Public Record</a:t>
            </a:r>
          </a:p>
          <a:p>
            <a:pPr algn="ctr">
              <a:spcAft>
                <a:spcPts val="100"/>
              </a:spcAft>
              <a:buNone/>
            </a:pPr>
            <a:r>
              <a:rPr sz="750" b="0">
                <a:solidFill>
                  <a:srgbClr val="2D2D2D"/>
                </a:solidFill>
              </a:rPr>
              <a:t>Article 19(1)(a)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7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3" name="Round Diagonal Corner Rectangle 2"/>
          <p:cNvSpPr/>
          <p:nvPr/>
        </p:nvSpPr>
        <p:spPr>
          <a:xfrm>
            <a:off x="0" y="1791032"/>
            <a:ext cx="12192000" cy="4319200"/>
          </a:xfrm>
          <a:prstGeom prst="round2DiagRect">
            <a:avLst/>
          </a:prstGeom>
          <a:solidFill>
            <a:schemeClr val="accent1">
              <a:lumMod val="20000"/>
              <a:lumOff val="80000"/>
            </a:schemeClr>
          </a:solidFill>
          <a:ln w="38100"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2" name="Google Shape;100;p3"/>
          <p:cNvSpPr txBox="1"/>
          <p:nvPr/>
        </p:nvSpPr>
        <p:spPr>
          <a:xfrm>
            <a:off x="367832" y="1915454"/>
            <a:ext cx="11764736" cy="407035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514350" marR="0" lvl="0" indent="-514350" algn="just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Kindly keep the maximum slides limit up to six </a:t>
            </a: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(6). 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( Including the </a:t>
            </a:r>
            <a:r>
              <a:rPr lang="en-US" b="1" i="0" u="none" strike="noStrike" cap="none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title slide)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Try to avoid paragraphs and post your idea in points /diagrams / Infographics /pictures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Keep your explanation precise and easy to understand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Idea should be unique and novel. 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can only use provided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template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for making the </a:t>
            </a: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PPT</a:t>
            </a: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 without changing the idea details pointers (mentioned in previous slides).</a:t>
            </a: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514350" marR="0" lvl="0" indent="-51435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AutoNum type="arabicPeriod"/>
            </a:pPr>
            <a:r>
              <a:rPr lang="en-US" b="1" i="0" u="none" strike="noStrike" cap="none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You need to save the file in PDF and upload the same on portal. No PPT, Word Doc or any other format will be supported.</a:t>
            </a:r>
            <a:endParaRPr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514350" marR="0" lvl="0" indent="-349885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  <a:p>
            <a:pPr marL="0" marR="0" lvl="0" indent="0" algn="just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Arial"/>
              <a:buNone/>
            </a:pPr>
            <a:r>
              <a:rPr lang="en-US" b="1" i="0" u="none" strike="noStrike" cap="none" dirty="0">
                <a:solidFill>
                  <a:srgbClr val="C00000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  <a:sym typeface="Calibri"/>
              </a:rPr>
              <a:t>Note - You can delete this slide (Important Pointers) when you upload the details of your idea on SIH portal.</a:t>
            </a:r>
            <a:endParaRPr b="1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914400" marR="0" lvl="1" indent="-316230" algn="just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ct val="100000"/>
              <a:buFont typeface="Calibri"/>
              <a:buNone/>
            </a:pPr>
            <a:endParaRPr sz="2000" b="1" i="0" u="none" strike="noStrike" cap="none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  <a:sym typeface="Calibri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1393371" y="107066"/>
            <a:ext cx="84105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IMPORTANT INSTRUCTIONS</a:t>
            </a:r>
            <a:endParaRPr lang="en-IN" sz="3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602343" y="1181900"/>
            <a:ext cx="9557657" cy="3416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ct val="100000"/>
            </a:pPr>
            <a:r>
              <a:rPr lang="en-US" b="1" dirty="0">
                <a:solidFill>
                  <a:schemeClr val="dk1"/>
                </a:solidFill>
                <a:latin typeface="Arial" panose="020B0604020202020204" pitchFamily="34" charset="0"/>
                <a:ea typeface="Calibri"/>
                <a:cs typeface="Arial" panose="020B0604020202020204" pitchFamily="34" charset="0"/>
              </a:rPr>
              <a:t>Please ensure below pointers are met while submitting the Idea PPT:</a:t>
            </a:r>
            <a:endParaRPr lang="en-IN" b="1" dirty="0">
              <a:solidFill>
                <a:schemeClr val="dk1"/>
              </a:solidFill>
              <a:latin typeface="Arial" panose="020B0604020202020204" pitchFamily="34" charset="0"/>
              <a:ea typeface="Calibri"/>
              <a:cs typeface="Arial" panose="020B0604020202020204" pitchFamily="34" charset="0"/>
            </a:endParaRP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8808441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